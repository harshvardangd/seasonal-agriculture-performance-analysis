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47" r:id="rId1"/>
  </p:sldMasterIdLst>
  <p:notesMasterIdLst>
    <p:notesMasterId r:id="rId16"/>
  </p:notesMasterIdLst>
  <p:handoutMasterIdLst>
    <p:handoutMasterId r:id="rId17"/>
  </p:handoutMasterIdLst>
  <p:sldIdLst>
    <p:sldId id="338" r:id="rId2"/>
    <p:sldId id="327" r:id="rId3"/>
    <p:sldId id="315" r:id="rId4"/>
    <p:sldId id="329" r:id="rId5"/>
    <p:sldId id="302" r:id="rId6"/>
    <p:sldId id="339" r:id="rId7"/>
    <p:sldId id="340" r:id="rId8"/>
    <p:sldId id="344" r:id="rId9"/>
    <p:sldId id="345" r:id="rId10"/>
    <p:sldId id="346" r:id="rId11"/>
    <p:sldId id="341" r:id="rId12"/>
    <p:sldId id="342" r:id="rId13"/>
    <p:sldId id="343"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5033" autoAdjust="0"/>
  </p:normalViewPr>
  <p:slideViewPr>
    <p:cSldViewPr snapToGrid="0">
      <p:cViewPr varScale="1">
        <p:scale>
          <a:sx n="89" d="100"/>
          <a:sy n="89" d="100"/>
        </p:scale>
        <p:origin x="302"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100" b="1" dirty="0"/>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HarshvardanGD/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566134"/>
            <a:ext cx="9235794" cy="1007301"/>
          </a:xfrm>
        </p:spPr>
        <p:txBody>
          <a:bodyPr>
            <a:normAutofit fontScale="90000"/>
          </a:bodyPr>
          <a:lstStyle/>
          <a:p>
            <a:r>
              <a:rPr lang="en-GB" sz="3200" dirty="0"/>
              <a:t>Project Title – SEASONAL AGRICULTURAL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659920"/>
            <a:ext cx="5638579" cy="369332"/>
          </a:xfrm>
          <a:prstGeom prst="rect">
            <a:avLst/>
          </a:prstGeom>
          <a:noFill/>
        </p:spPr>
        <p:txBody>
          <a:bodyPr wrap="square" rtlCol="0">
            <a:spAutoFit/>
          </a:bodyPr>
          <a:lstStyle/>
          <a:p>
            <a:r>
              <a:rPr lang="en-US" b="1" dirty="0"/>
              <a:t>AICTE STU ID : STU6a2a2a51ce5761781148241</a:t>
            </a:r>
          </a:p>
        </p:txBody>
      </p:sp>
      <p:sp>
        <p:nvSpPr>
          <p:cNvPr id="5" name="TextBox 4">
            <a:extLst>
              <a:ext uri="{FF2B5EF4-FFF2-40B4-BE49-F238E27FC236}">
                <a16:creationId xmlns:a16="http://schemas.microsoft.com/office/drawing/2014/main" id="{E2667DC2-D3AE-5807-FC70-83D172174EE8}"/>
              </a:ext>
            </a:extLst>
          </p:cNvPr>
          <p:cNvSpPr txBox="1"/>
          <p:nvPr/>
        </p:nvSpPr>
        <p:spPr>
          <a:xfrm>
            <a:off x="675957" y="3707754"/>
            <a:ext cx="3004862" cy="369332"/>
          </a:xfrm>
          <a:prstGeom prst="rect">
            <a:avLst/>
          </a:prstGeom>
          <a:noFill/>
        </p:spPr>
        <p:txBody>
          <a:bodyPr wrap="none" rtlCol="0">
            <a:spAutoFit/>
          </a:bodyPr>
          <a:lstStyle/>
          <a:p>
            <a:r>
              <a:rPr lang="en-IN" b="1" dirty="0"/>
              <a:t>NAME</a:t>
            </a:r>
            <a:r>
              <a:rPr lang="en-IN" dirty="0"/>
              <a:t> : HARSHVARDAN G D </a:t>
            </a:r>
          </a:p>
        </p:txBody>
      </p:sp>
      <p:sp>
        <p:nvSpPr>
          <p:cNvPr id="7" name="TextBox 6">
            <a:extLst>
              <a:ext uri="{FF2B5EF4-FFF2-40B4-BE49-F238E27FC236}">
                <a16:creationId xmlns:a16="http://schemas.microsoft.com/office/drawing/2014/main" id="{2C316E1F-114A-C980-CC4D-7B9BB4A6AB78}"/>
              </a:ext>
            </a:extLst>
          </p:cNvPr>
          <p:cNvSpPr txBox="1"/>
          <p:nvPr/>
        </p:nvSpPr>
        <p:spPr>
          <a:xfrm>
            <a:off x="675957" y="4183837"/>
            <a:ext cx="6132448" cy="369332"/>
          </a:xfrm>
          <a:prstGeom prst="rect">
            <a:avLst/>
          </a:prstGeom>
          <a:noFill/>
        </p:spPr>
        <p:txBody>
          <a:bodyPr wrap="none" rtlCol="0">
            <a:spAutoFit/>
          </a:bodyPr>
          <a:lstStyle/>
          <a:p>
            <a:r>
              <a:rPr lang="en-IN" b="1" dirty="0"/>
              <a:t>COLLEGE NAME </a:t>
            </a:r>
            <a:r>
              <a:rPr lang="en-IN" dirty="0"/>
              <a:t>: SRI SAIRAM INSTITUTE OF TECHNOLOGY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80654" y="1746380"/>
            <a:ext cx="5515346" cy="4319687"/>
          </a:xfrm>
        </p:spPr>
        <p:txBody>
          <a:bodyPr vert="horz" lIns="91440" tIns="45720" rIns="91440" bIns="45720" rtlCol="0" anchor="t">
            <a:normAutofit fontScale="62500" lnSpcReduction="20000"/>
          </a:bodyPr>
          <a:lstStyle/>
          <a:p>
            <a:pPr>
              <a:lnSpc>
                <a:spcPct val="100000"/>
              </a:lnSpc>
            </a:pPr>
            <a:r>
              <a:rPr lang="en-US" sz="2800" dirty="0"/>
              <a:t>Agricultural activities are influenced by seasonal variations in environmental conditions, farming practices, resource availability and market conditions. </a:t>
            </a:r>
          </a:p>
          <a:p>
            <a:pPr>
              <a:lnSpc>
                <a:spcPct val="100000"/>
              </a:lnSpc>
            </a:pPr>
            <a:r>
              <a:rPr lang="en-US" sz="2800" dirty="0"/>
              <a:t>As a result, agricultural performance may differ from one season to another. However, raw agricultural data does not clearly explain how agricultural performance changes across seasons or what patterns can be observed in different seasonal conditions.</a:t>
            </a:r>
          </a:p>
          <a:p>
            <a:pPr>
              <a:lnSpc>
                <a:spcPct val="100000"/>
              </a:lnSpc>
            </a:pPr>
            <a:r>
              <a:rPr lang="en-US" sz="2800" dirty="0"/>
              <a:t>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60399" y="1934622"/>
            <a:ext cx="6441441" cy="3323987"/>
          </a:xfrm>
          <a:prstGeom prst="rect">
            <a:avLst/>
          </a:prstGeom>
          <a:noFill/>
        </p:spPr>
        <p:txBody>
          <a:bodyPr wrap="square">
            <a:spAutoFit/>
          </a:bodyPr>
          <a:lstStyle/>
          <a:p>
            <a:pPr algn="l"/>
            <a:r>
              <a:rPr sz="1500" b="0" i="0" dirty="0">
                <a:solidFill>
                  <a:srgbClr val="333333"/>
                </a:solidFill>
              </a:rPr>
              <a:t>This project analyzes seasonal agricultural performance using a dataset of 4,000 farm records spanning 8 Indian states, 10 districts and 8 crops across the Kharif, Rabi and Zaid cropping seasons.</a:t>
            </a:r>
            <a:endParaRPr lang="en-IN" sz="1500" b="0" i="0" dirty="0">
              <a:solidFill>
                <a:srgbClr val="333333"/>
              </a:solidFill>
            </a:endParaRPr>
          </a:p>
          <a:p>
            <a:pPr algn="l"/>
            <a:endParaRPr lang="en-IN" sz="1500" dirty="0">
              <a:solidFill>
                <a:srgbClr val="333333"/>
              </a:solidFill>
            </a:endParaRPr>
          </a:p>
          <a:p>
            <a:pPr algn="l"/>
            <a:r>
              <a:rPr sz="1500" b="0" i="0" dirty="0">
                <a:solidFill>
                  <a:srgbClr val="333333"/>
                </a:solidFill>
              </a:rPr>
              <a:t>Using Python (pandas, seaborn, matplotlib, sci</a:t>
            </a:r>
            <a:r>
              <a:rPr lang="en-IN" sz="1500" b="0" i="0" dirty="0">
                <a:solidFill>
                  <a:srgbClr val="333333"/>
                </a:solidFill>
              </a:rPr>
              <a:t>P</a:t>
            </a:r>
            <a:r>
              <a:rPr sz="1500" b="0" i="0" dirty="0">
                <a:solidFill>
                  <a:srgbClr val="333333"/>
                </a:solidFill>
              </a:rPr>
              <a:t>y), the project cleans the raw data, compares yield, revenue, profit, water-use efficiency and disease/pest risk across seasons, and statistically tests whether these seasonal differences are significant.</a:t>
            </a:r>
            <a:endParaRPr lang="en-IN" sz="1500" b="0" i="0" dirty="0">
              <a:solidFill>
                <a:srgbClr val="333333"/>
              </a:solidFill>
            </a:endParaRPr>
          </a:p>
          <a:p>
            <a:pPr algn="l"/>
            <a:endParaRPr lang="en-IN" sz="1500" dirty="0">
              <a:solidFill>
                <a:srgbClr val="333333"/>
              </a:solidFill>
            </a:endParaRPr>
          </a:p>
          <a:p>
            <a:pPr algn="l"/>
            <a:r>
              <a:rPr sz="1500" b="0" i="0" dirty="0">
                <a:solidFill>
                  <a:srgbClr val="333333"/>
                </a:solidFill>
              </a:rPr>
              <a:t>It further examines how environmental conditions, irrigation method, crop choice and state-level geography drive performance. The output is a set of evidence-based insights and season-specific recommendations for farmers, policymakers and </a:t>
            </a:r>
            <a:r>
              <a:rPr sz="1500" b="0" i="0" dirty="0" err="1">
                <a:solidFill>
                  <a:srgbClr val="333333"/>
                </a:solidFill>
              </a:rPr>
              <a:t>agri</a:t>
            </a:r>
            <a:r>
              <a:rPr sz="1500" b="0" i="0" dirty="0">
                <a:solidFill>
                  <a:srgbClr val="333333"/>
                </a:solidFill>
              </a:rPr>
              <a:t>-advisory bodies, fully documented in an executed Jupyter Notebook.</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54659" y="1821180"/>
            <a:ext cx="7904481" cy="4160203"/>
          </a:xfrm>
        </p:spPr>
        <p:txBody>
          <a:bodyPr>
            <a:normAutofit fontScale="70000" lnSpcReduction="20000"/>
          </a:bodyPr>
          <a:lstStyle/>
          <a:p>
            <a:pPr algn="just">
              <a:lnSpc>
                <a:spcPct val="115000"/>
              </a:lnSpc>
              <a:spcAft>
                <a:spcPts val="1200"/>
              </a:spcAft>
              <a:buFont typeface="Arial"/>
              <a:buChar char="•"/>
            </a:pPr>
            <a:r>
              <a:rPr lang="en-IN" sz="2000" b="1" dirty="0"/>
              <a:t>Farmers </a:t>
            </a:r>
            <a:r>
              <a:rPr lang="en-IN" b="1" dirty="0"/>
              <a:t>&amp; </a:t>
            </a:r>
            <a:r>
              <a:rPr lang="en-IN" sz="2000" b="1" dirty="0"/>
              <a:t>Farm Managers</a:t>
            </a:r>
            <a:r>
              <a:rPr lang="en-IN" sz="2000" dirty="0"/>
              <a:t> – to plan sowing and irrigation by season: Kharif offers the best average yield and profit but the highest disease/pest risk (54.5%), while Zaid needs the most caution (average profit is negative).</a:t>
            </a:r>
          </a:p>
          <a:p>
            <a:pPr algn="just">
              <a:lnSpc>
                <a:spcPct val="115000"/>
              </a:lnSpc>
              <a:spcAft>
                <a:spcPts val="1200"/>
              </a:spcAft>
              <a:buFont typeface="Arial"/>
              <a:buChar char="•"/>
            </a:pPr>
            <a:r>
              <a:rPr lang="en-IN" sz="2000" b="1" dirty="0"/>
              <a:t>Agricultural Policy Planners / Government Departments</a:t>
            </a:r>
            <a:r>
              <a:rPr lang="en-IN" sz="2000" dirty="0"/>
              <a:t> – to target subsidies and irrigation support toward the Zaid season, where only 35.5% of farms are profitable.</a:t>
            </a:r>
          </a:p>
          <a:p>
            <a:pPr algn="just">
              <a:lnSpc>
                <a:spcPct val="115000"/>
              </a:lnSpc>
              <a:spcAft>
                <a:spcPts val="1200"/>
              </a:spcAft>
              <a:buFont typeface="Arial"/>
              <a:buChar char="•"/>
            </a:pPr>
            <a:r>
              <a:rPr lang="en-IN" sz="2000" b="1" dirty="0"/>
              <a:t>Crop Insurance &amp; Agri-Risk Assessment Firms</a:t>
            </a:r>
            <a:r>
              <a:rPr lang="en-IN" sz="2000" dirty="0"/>
              <a:t> – to price risk using season- and region-specific loss data, since close to half of all farms in the dataset operate at a loss regardless of season.</a:t>
            </a:r>
          </a:p>
          <a:p>
            <a:pPr algn="just">
              <a:lnSpc>
                <a:spcPct val="115000"/>
              </a:lnSpc>
              <a:spcAft>
                <a:spcPts val="1200"/>
              </a:spcAft>
              <a:buFont typeface="Arial"/>
              <a:buChar char="•"/>
            </a:pPr>
            <a:r>
              <a:rPr lang="en-IN" sz="2000" b="1" dirty="0"/>
              <a:t>Agricultural Extension &amp; Advisory Officers</a:t>
            </a:r>
            <a:r>
              <a:rPr lang="en-IN" sz="2000" dirty="0"/>
              <a:t> – to recalibrate pesticide guidance by season, since Kharif's disease/pest risk is far higher than Rabi or Zaid but pesticide use is flat across all three.</a:t>
            </a:r>
          </a:p>
          <a:p>
            <a:pPr algn="just">
              <a:lnSpc>
                <a:spcPct val="115000"/>
              </a:lnSpc>
              <a:buFont typeface="Arial"/>
              <a:buChar char="•"/>
            </a:pPr>
            <a:r>
              <a:rPr lang="en-IN" sz="2000" b="1" dirty="0"/>
              <a:t>Irrigation Planning Agencies</a:t>
            </a:r>
            <a:r>
              <a:rPr lang="en-IN" sz="2000" dirty="0"/>
              <a:t> – to promote drip irrigation, which this analysis found to be the most water-efficient method across every season.</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TextBox 16"/>
          <p:cNvSpPr txBox="1"/>
          <p:nvPr/>
        </p:nvSpPr>
        <p:spPr>
          <a:xfrm>
            <a:off x="1778000" y="1818302"/>
            <a:ext cx="7100000" cy="2959785"/>
          </a:xfrm>
          <a:prstGeom prst="rect">
            <a:avLst/>
          </a:prstGeom>
          <a:noFill/>
        </p:spPr>
        <p:txBody>
          <a:bodyPr wrap="square">
            <a:spAutoFit/>
          </a:bodyPr>
          <a:lstStyle/>
          <a:p>
            <a:pPr algn="l">
              <a:spcAft>
                <a:spcPts val="1000"/>
              </a:spcAft>
            </a:pPr>
            <a:r>
              <a:rPr sz="1700" b="1" dirty="0">
                <a:solidFill>
                  <a:srgbClr val="1A1A1A"/>
                </a:solidFill>
              </a:rPr>
              <a:t>•  Python </a:t>
            </a:r>
            <a:r>
              <a:rPr sz="1700" dirty="0">
                <a:solidFill>
                  <a:srgbClr val="333333"/>
                </a:solidFill>
              </a:rPr>
              <a:t> — core language used for all data cleaning, analysis and visualization.</a:t>
            </a:r>
          </a:p>
          <a:p>
            <a:pPr algn="l">
              <a:spcAft>
                <a:spcPts val="1000"/>
              </a:spcAft>
            </a:pPr>
            <a:r>
              <a:rPr sz="1700" b="1" dirty="0">
                <a:solidFill>
                  <a:srgbClr val="1A1A1A"/>
                </a:solidFill>
              </a:rPr>
              <a:t>•  pandas &amp; NumPy</a:t>
            </a:r>
            <a:r>
              <a:rPr sz="1700" dirty="0">
                <a:solidFill>
                  <a:srgbClr val="333333"/>
                </a:solidFill>
              </a:rPr>
              <a:t> — data loading, cleaning, group-by aggregation and numerical computation.</a:t>
            </a:r>
          </a:p>
          <a:p>
            <a:pPr algn="l">
              <a:spcAft>
                <a:spcPts val="1000"/>
              </a:spcAft>
            </a:pPr>
            <a:r>
              <a:rPr lang="en-IN" sz="1700" b="1" dirty="0">
                <a:solidFill>
                  <a:srgbClr val="1A1A1A"/>
                </a:solidFill>
              </a:rPr>
              <a:t>•</a:t>
            </a:r>
            <a:r>
              <a:rPr sz="1700" b="1" dirty="0">
                <a:solidFill>
                  <a:srgbClr val="1A1A1A"/>
                </a:solidFill>
              </a:rPr>
              <a:t>  Matplotlib &amp; Seaborn</a:t>
            </a:r>
            <a:r>
              <a:rPr sz="1700" dirty="0">
                <a:solidFill>
                  <a:srgbClr val="333333"/>
                </a:solidFill>
              </a:rPr>
              <a:t> — bar charts, boxplots and heatmaps used across the analysis.</a:t>
            </a:r>
          </a:p>
          <a:p>
            <a:pPr algn="l">
              <a:spcAft>
                <a:spcPts val="1000"/>
              </a:spcAft>
            </a:pPr>
            <a:r>
              <a:rPr sz="1700" b="1" dirty="0">
                <a:solidFill>
                  <a:srgbClr val="1A1A1A"/>
                </a:solidFill>
              </a:rPr>
              <a:t>•  SciPy (stats)</a:t>
            </a:r>
            <a:r>
              <a:rPr sz="1700" dirty="0">
                <a:solidFill>
                  <a:srgbClr val="333333"/>
                </a:solidFill>
              </a:rPr>
              <a:t> — </a:t>
            </a:r>
            <a:r>
              <a:rPr lang="en-IN" sz="1700" dirty="0">
                <a:solidFill>
                  <a:srgbClr val="333333"/>
                </a:solidFill>
              </a:rPr>
              <a:t> Used for </a:t>
            </a:r>
            <a:r>
              <a:rPr sz="1700" dirty="0">
                <a:solidFill>
                  <a:srgbClr val="333333"/>
                </a:solidFill>
              </a:rPr>
              <a:t>ANOVA and Kruskal-Wallis  statistical </a:t>
            </a:r>
            <a:r>
              <a:rPr lang="en-IN" sz="1700" dirty="0">
                <a:solidFill>
                  <a:srgbClr val="333333"/>
                </a:solidFill>
              </a:rPr>
              <a:t>tests.</a:t>
            </a:r>
            <a:endParaRPr sz="1700" dirty="0">
              <a:solidFill>
                <a:srgbClr val="333333"/>
              </a:solidFill>
            </a:endParaRPr>
          </a:p>
          <a:p>
            <a:pPr algn="l">
              <a:spcAft>
                <a:spcPts val="1000"/>
              </a:spcAft>
            </a:pPr>
            <a:r>
              <a:rPr sz="1700" b="1" dirty="0">
                <a:solidFill>
                  <a:srgbClr val="1A1A1A"/>
                </a:solidFill>
              </a:rPr>
              <a:t>•  Jupyter Notebook</a:t>
            </a:r>
            <a:r>
              <a:rPr sz="1700" dirty="0">
                <a:solidFill>
                  <a:srgbClr val="333333"/>
                </a:solidFill>
              </a:rPr>
              <a:t> — literate, reproducible documentation combining code, output and commentary.</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8586"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5" name="Picture 24" descr="check_1.png"/>
          <p:cNvPicPr>
            <a:picLocks noChangeAspect="1"/>
          </p:cNvPicPr>
          <p:nvPr/>
        </p:nvPicPr>
        <p:blipFill>
          <a:blip r:embed="rId3"/>
          <a:stretch>
            <a:fillRect/>
          </a:stretch>
        </p:blipFill>
        <p:spPr>
          <a:xfrm>
            <a:off x="3230061" y="617220"/>
            <a:ext cx="5574826" cy="3691531"/>
          </a:xfrm>
          <a:prstGeom prst="rect">
            <a:avLst/>
          </a:prstGeom>
        </p:spPr>
      </p:pic>
      <p:sp>
        <p:nvSpPr>
          <p:cNvPr id="26" name="TextBox 25"/>
          <p:cNvSpPr txBox="1"/>
          <p:nvPr/>
        </p:nvSpPr>
        <p:spPr>
          <a:xfrm>
            <a:off x="497638" y="4383849"/>
            <a:ext cx="8700000" cy="2900000"/>
          </a:xfrm>
          <a:prstGeom prst="rect">
            <a:avLst/>
          </a:prstGeom>
          <a:noFill/>
        </p:spPr>
        <p:txBody>
          <a:bodyPr wrap="square">
            <a:spAutoFit/>
          </a:bodyPr>
          <a:lstStyle/>
          <a:p>
            <a:pPr algn="l">
              <a:lnSpc>
                <a:spcPct val="100000"/>
              </a:lnSpc>
              <a:spcAft>
                <a:spcPts val="500"/>
              </a:spcAft>
            </a:pPr>
            <a:r>
              <a:rPr sz="1400" dirty="0">
                <a:solidFill>
                  <a:srgbClr val="222222"/>
                </a:solidFill>
              </a:rPr>
              <a:t>•  Kharif records the highest average yield at 5.63 </a:t>
            </a:r>
            <a:r>
              <a:rPr sz="1400" dirty="0" err="1">
                <a:solidFill>
                  <a:srgbClr val="222222"/>
                </a:solidFill>
              </a:rPr>
              <a:t>tonnes</a:t>
            </a:r>
            <a:r>
              <a:rPr sz="1400" dirty="0">
                <a:solidFill>
                  <a:srgbClr val="222222"/>
                </a:solidFill>
              </a:rPr>
              <a:t>/hectare, ahead of Rabi (5.09) and Zaid (4.64).</a:t>
            </a:r>
          </a:p>
          <a:p>
            <a:pPr algn="l">
              <a:lnSpc>
                <a:spcPct val="100000"/>
              </a:lnSpc>
              <a:spcAft>
                <a:spcPts val="500"/>
              </a:spcAft>
            </a:pPr>
            <a:r>
              <a:rPr sz="1400" dirty="0">
                <a:solidFill>
                  <a:srgbClr val="222222"/>
                </a:solidFill>
              </a:rPr>
              <a:t>•  Average profit follows the same order: ₹178,915 in Kharif, ₹87,689 in Rabi, and a loss of -₹24,805 in Zaid — the only season with negative average profit.</a:t>
            </a:r>
          </a:p>
          <a:p>
            <a:pPr algn="l">
              <a:lnSpc>
                <a:spcPct val="100000"/>
              </a:lnSpc>
              <a:spcAft>
                <a:spcPts val="500"/>
              </a:spcAft>
            </a:pPr>
            <a:r>
              <a:rPr sz="1400" dirty="0">
                <a:solidFill>
                  <a:srgbClr val="222222"/>
                </a:solidFill>
              </a:rPr>
              <a:t>•  Water efficiency is also highest in Kharif (5.89 t/1000m³), dropping to 4.41 in Zaid.</a:t>
            </a:r>
          </a:p>
          <a:p>
            <a:pPr algn="l">
              <a:lnSpc>
                <a:spcPct val="100000"/>
              </a:lnSpc>
              <a:spcAft>
                <a:spcPts val="500"/>
              </a:spcAft>
            </a:pPr>
            <a:r>
              <a:rPr sz="1400" dirty="0">
                <a:solidFill>
                  <a:srgbClr val="222222"/>
                </a:solidFill>
              </a:rPr>
              <a:t>•  Disease/pest risk is inverted: </a:t>
            </a:r>
            <a:r>
              <a:rPr sz="1400" dirty="0" err="1">
                <a:solidFill>
                  <a:srgbClr val="222222"/>
                </a:solidFill>
              </a:rPr>
              <a:t>Kharif's</a:t>
            </a:r>
            <a:r>
              <a:rPr sz="1400" dirty="0">
                <a:solidFill>
                  <a:srgbClr val="222222"/>
                </a:solidFill>
              </a:rPr>
              <a:t> 54.5% is well above Rabi (40.5%) and Zaid (38.2%), so the strongest season is also the riskiest for crop health.</a:t>
            </a:r>
          </a:p>
          <a:p>
            <a:pPr algn="l">
              <a:lnSpc>
                <a:spcPct val="100000"/>
              </a:lnSpc>
              <a:spcAft>
                <a:spcPts val="500"/>
              </a:spcAft>
            </a:pPr>
            <a:r>
              <a:rPr sz="1400" dirty="0">
                <a:solidFill>
                  <a:srgbClr val="222222"/>
                </a:solidFill>
              </a:rPr>
              <a:t>•  Overall, Kharif is the strongest season economically, but that strength comes with a real pest/disease trade-off.</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2" name="Picture 31" descr="check_4.png"/>
          <p:cNvPicPr>
            <a:picLocks noChangeAspect="1"/>
          </p:cNvPicPr>
          <p:nvPr/>
        </p:nvPicPr>
        <p:blipFill>
          <a:blip r:embed="rId3"/>
          <a:stretch>
            <a:fillRect/>
          </a:stretch>
        </p:blipFill>
        <p:spPr>
          <a:xfrm>
            <a:off x="3403368" y="533401"/>
            <a:ext cx="5124091" cy="3485560"/>
          </a:xfrm>
          <a:prstGeom prst="rect">
            <a:avLst/>
          </a:prstGeom>
        </p:spPr>
      </p:pic>
      <p:sp>
        <p:nvSpPr>
          <p:cNvPr id="33" name="TextBox 32"/>
          <p:cNvSpPr txBox="1"/>
          <p:nvPr/>
        </p:nvSpPr>
        <p:spPr>
          <a:xfrm>
            <a:off x="514890" y="3958000"/>
            <a:ext cx="8700000" cy="2900000"/>
          </a:xfrm>
          <a:prstGeom prst="rect">
            <a:avLst/>
          </a:prstGeom>
          <a:noFill/>
        </p:spPr>
        <p:txBody>
          <a:bodyPr wrap="square">
            <a:spAutoFit/>
          </a:bodyPr>
          <a:lstStyle/>
          <a:p>
            <a:pPr algn="l">
              <a:lnSpc>
                <a:spcPct val="100000"/>
              </a:lnSpc>
              <a:spcAft>
                <a:spcPts val="500"/>
              </a:spcAft>
            </a:pPr>
            <a:r>
              <a:rPr sz="1400" dirty="0">
                <a:solidFill>
                  <a:srgbClr val="222222"/>
                </a:solidFill>
              </a:rPr>
              <a:t>•  Every crop's yield is highest in Kharif and lowest in Zaid, with no exceptions — all 8 crops follow this order.</a:t>
            </a:r>
          </a:p>
          <a:p>
            <a:pPr algn="l">
              <a:lnSpc>
                <a:spcPct val="100000"/>
              </a:lnSpc>
              <a:spcAft>
                <a:spcPts val="500"/>
              </a:spcAft>
            </a:pPr>
            <a:r>
              <a:rPr sz="1400" dirty="0">
                <a:solidFill>
                  <a:srgbClr val="222222"/>
                </a:solidFill>
              </a:rPr>
              <a:t>•  Sugarcane dominates in absolute terms, yielding 53.46 t/ha in Kharif versus roughly 1–3 t/ha for most other crops.</a:t>
            </a:r>
          </a:p>
          <a:p>
            <a:pPr algn="l">
              <a:lnSpc>
                <a:spcPct val="100000"/>
              </a:lnSpc>
              <a:spcAft>
                <a:spcPts val="500"/>
              </a:spcAft>
            </a:pPr>
            <a:r>
              <a:rPr sz="1400" dirty="0">
                <a:solidFill>
                  <a:srgbClr val="222222"/>
                </a:solidFill>
              </a:rPr>
              <a:t>•  The Kharif-to-Zaid gap is proportionally similar across crops (roughly 25–35% lower in Zaid), pointing to a consistent seasonal effect rather than a crop-specific one.</a:t>
            </a:r>
          </a:p>
          <a:p>
            <a:pPr algn="l">
              <a:lnSpc>
                <a:spcPct val="100000"/>
              </a:lnSpc>
              <a:spcAft>
                <a:spcPts val="500"/>
              </a:spcAft>
            </a:pPr>
            <a:r>
              <a:rPr sz="1400" dirty="0">
                <a:solidFill>
                  <a:srgbClr val="222222"/>
                </a:solidFill>
              </a:rPr>
              <a:t>•  Because the pattern holds for every individual crop, it rules out the idea that </a:t>
            </a:r>
            <a:r>
              <a:rPr sz="1400" dirty="0" err="1">
                <a:solidFill>
                  <a:srgbClr val="222222"/>
                </a:solidFill>
              </a:rPr>
              <a:t>Kharif's</a:t>
            </a:r>
            <a:r>
              <a:rPr sz="1400" dirty="0">
                <a:solidFill>
                  <a:srgbClr val="222222"/>
                </a:solidFill>
              </a:rPr>
              <a:t> overall advantage is just due to which crops are grown more often in that season.</a:t>
            </a:r>
          </a:p>
          <a:p>
            <a:pPr algn="l">
              <a:lnSpc>
                <a:spcPct val="100000"/>
              </a:lnSpc>
              <a:spcAft>
                <a:spcPts val="500"/>
              </a:spcAft>
            </a:pPr>
            <a:r>
              <a:rPr sz="1400" dirty="0">
                <a:solidFill>
                  <a:srgbClr val="222222"/>
                </a:solidFill>
              </a:rPr>
              <a:t>•  This heatmap is the strongest single piece of evidence that season — not crop mix — drives the yield gap.</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2" name="Picture 31" descr="check_3.png"/>
          <p:cNvPicPr>
            <a:picLocks noChangeAspect="1"/>
          </p:cNvPicPr>
          <p:nvPr/>
        </p:nvPicPr>
        <p:blipFill>
          <a:blip r:embed="rId3"/>
          <a:stretch>
            <a:fillRect/>
          </a:stretch>
        </p:blipFill>
        <p:spPr>
          <a:xfrm>
            <a:off x="222727" y="1275371"/>
            <a:ext cx="6869746" cy="5452241"/>
          </a:xfrm>
          <a:prstGeom prst="rect">
            <a:avLst/>
          </a:prstGeom>
        </p:spPr>
      </p:pic>
      <p:sp>
        <p:nvSpPr>
          <p:cNvPr id="33" name="TextBox 32"/>
          <p:cNvSpPr txBox="1"/>
          <p:nvPr/>
        </p:nvSpPr>
        <p:spPr>
          <a:xfrm>
            <a:off x="7092473" y="884713"/>
            <a:ext cx="3343561" cy="5088573"/>
          </a:xfrm>
          <a:prstGeom prst="rect">
            <a:avLst/>
          </a:prstGeom>
          <a:noFill/>
        </p:spPr>
        <p:txBody>
          <a:bodyPr wrap="square">
            <a:spAutoFit/>
          </a:bodyPr>
          <a:lstStyle/>
          <a:p>
            <a:pPr algn="l">
              <a:lnSpc>
                <a:spcPct val="100000"/>
              </a:lnSpc>
              <a:spcAft>
                <a:spcPts val="500"/>
              </a:spcAft>
            </a:pPr>
            <a:r>
              <a:rPr sz="1400" dirty="0">
                <a:solidFill>
                  <a:srgbClr val="222222"/>
                </a:solidFill>
              </a:rPr>
              <a:t>•  No single environmental or input variable correlates strongly with yield alone — every coefficient against Yield</a:t>
            </a:r>
            <a:r>
              <a:rPr lang="en-IN" sz="1400" dirty="0">
                <a:solidFill>
                  <a:srgbClr val="222222"/>
                </a:solidFill>
              </a:rPr>
              <a:t> (</a:t>
            </a:r>
            <a:r>
              <a:rPr sz="1400" dirty="0" err="1">
                <a:solidFill>
                  <a:srgbClr val="222222"/>
                </a:solidFill>
              </a:rPr>
              <a:t>Tonnes</a:t>
            </a:r>
            <a:r>
              <a:rPr lang="en-IN" sz="1400" dirty="0">
                <a:solidFill>
                  <a:srgbClr val="222222"/>
                </a:solidFill>
              </a:rPr>
              <a:t>/</a:t>
            </a:r>
            <a:r>
              <a:rPr sz="1400" dirty="0">
                <a:solidFill>
                  <a:srgbClr val="222222"/>
                </a:solidFill>
              </a:rPr>
              <a:t>Ha </a:t>
            </a:r>
            <a:r>
              <a:rPr lang="en-IN" sz="1400" dirty="0">
                <a:solidFill>
                  <a:srgbClr val="222222"/>
                </a:solidFill>
              </a:rPr>
              <a:t>)</a:t>
            </a:r>
            <a:r>
              <a:rPr sz="1400" dirty="0">
                <a:solidFill>
                  <a:srgbClr val="222222"/>
                </a:solidFill>
              </a:rPr>
              <a:t>is below ±0.06.</a:t>
            </a:r>
          </a:p>
          <a:p>
            <a:pPr algn="l">
              <a:lnSpc>
                <a:spcPct val="100000"/>
              </a:lnSpc>
              <a:spcAft>
                <a:spcPts val="500"/>
              </a:spcAft>
            </a:pPr>
            <a:r>
              <a:rPr sz="1400" dirty="0">
                <a:solidFill>
                  <a:srgbClr val="222222"/>
                </a:solidFill>
              </a:rPr>
              <a:t>•  Disease/pest risk correlates strongly with rainfall (0.62) and humidity (0.55) — both of which peak in Kharif.</a:t>
            </a:r>
          </a:p>
          <a:p>
            <a:pPr algn="l">
              <a:lnSpc>
                <a:spcPct val="100000"/>
              </a:lnSpc>
              <a:spcAft>
                <a:spcPts val="500"/>
              </a:spcAft>
            </a:pPr>
            <a:r>
              <a:rPr sz="1400" dirty="0">
                <a:solidFill>
                  <a:srgbClr val="222222"/>
                </a:solidFill>
              </a:rPr>
              <a:t>•  Pesticide use has a negative correlation with disease risk (-0.47), but this doesn't fully offset </a:t>
            </a:r>
            <a:r>
              <a:rPr sz="1400" dirty="0" err="1">
                <a:solidFill>
                  <a:srgbClr val="222222"/>
                </a:solidFill>
              </a:rPr>
              <a:t>Kharif's</a:t>
            </a:r>
            <a:r>
              <a:rPr sz="1400" dirty="0">
                <a:solidFill>
                  <a:srgbClr val="222222"/>
                </a:solidFill>
              </a:rPr>
              <a:t> elevated risk, since pesticide use itself doesn't rise in Kharif.</a:t>
            </a:r>
          </a:p>
          <a:p>
            <a:pPr algn="l">
              <a:lnSpc>
                <a:spcPct val="100000"/>
              </a:lnSpc>
              <a:spcAft>
                <a:spcPts val="500"/>
              </a:spcAft>
            </a:pPr>
            <a:r>
              <a:rPr sz="1400" dirty="0">
                <a:solidFill>
                  <a:srgbClr val="222222"/>
                </a:solidFill>
              </a:rPr>
              <a:t>•  Profit correlates moderately with yield (0.49) and water used (0.19), showing higher-output farms are generally more profitable, though not perfectly.</a:t>
            </a:r>
          </a:p>
          <a:p>
            <a:pPr algn="l">
              <a:lnSpc>
                <a:spcPct val="100000"/>
              </a:lnSpc>
              <a:spcAft>
                <a:spcPts val="500"/>
              </a:spcAft>
            </a:pPr>
            <a:r>
              <a:rPr sz="1400" dirty="0">
                <a:solidFill>
                  <a:srgbClr val="222222"/>
                </a:solidFill>
              </a:rPr>
              <a:t>•  The weak yield correlations confirm crop choice — not environmental conditions — is the main driver of yield, matching the crop-heatmap finding.</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2" name="Picture 31" descr="check_6.png"/>
          <p:cNvPicPr>
            <a:picLocks noChangeAspect="1"/>
          </p:cNvPicPr>
          <p:nvPr/>
        </p:nvPicPr>
        <p:blipFill>
          <a:blip r:embed="rId3"/>
          <a:stretch>
            <a:fillRect/>
          </a:stretch>
        </p:blipFill>
        <p:spPr>
          <a:xfrm>
            <a:off x="2819082" y="1112863"/>
            <a:ext cx="5247738" cy="3011645"/>
          </a:xfrm>
          <a:prstGeom prst="rect">
            <a:avLst/>
          </a:prstGeom>
        </p:spPr>
      </p:pic>
      <p:sp>
        <p:nvSpPr>
          <p:cNvPr id="33" name="TextBox 32"/>
          <p:cNvSpPr txBox="1"/>
          <p:nvPr/>
        </p:nvSpPr>
        <p:spPr>
          <a:xfrm>
            <a:off x="514891" y="4132629"/>
            <a:ext cx="8700000" cy="2900000"/>
          </a:xfrm>
          <a:prstGeom prst="rect">
            <a:avLst/>
          </a:prstGeom>
          <a:noFill/>
        </p:spPr>
        <p:txBody>
          <a:bodyPr wrap="square">
            <a:spAutoFit/>
          </a:bodyPr>
          <a:lstStyle/>
          <a:p>
            <a:pPr algn="l">
              <a:lnSpc>
                <a:spcPct val="100000"/>
              </a:lnSpc>
              <a:spcAft>
                <a:spcPts val="500"/>
              </a:spcAft>
            </a:pPr>
            <a:r>
              <a:rPr sz="1400" dirty="0">
                <a:solidFill>
                  <a:srgbClr val="222222"/>
                </a:solidFill>
              </a:rPr>
              <a:t>•  Drip irrigation is the most water-efficient method among the actively-irrigated types, in every season.</a:t>
            </a:r>
          </a:p>
          <a:p>
            <a:pPr algn="l">
              <a:lnSpc>
                <a:spcPct val="100000"/>
              </a:lnSpc>
              <a:spcAft>
                <a:spcPts val="500"/>
              </a:spcAft>
            </a:pPr>
            <a:r>
              <a:rPr sz="1400" dirty="0">
                <a:solidFill>
                  <a:srgbClr val="222222"/>
                </a:solidFill>
              </a:rPr>
              <a:t>•  Efficiency for every method declines from Kharif to Zaid, consistent with Zaid's higher temperatures and evaporation losses.</a:t>
            </a:r>
          </a:p>
          <a:p>
            <a:pPr algn="l">
              <a:lnSpc>
                <a:spcPct val="100000"/>
              </a:lnSpc>
              <a:spcAft>
                <a:spcPts val="500"/>
              </a:spcAft>
            </a:pPr>
            <a:r>
              <a:rPr sz="1400" dirty="0">
                <a:solidFill>
                  <a:srgbClr val="222222"/>
                </a:solidFill>
              </a:rPr>
              <a:t>•  Flood irrigation is the least efficient method in all three seasons, making it the weakest choice for water-scarce regions.</a:t>
            </a:r>
          </a:p>
          <a:p>
            <a:pPr algn="l">
              <a:lnSpc>
                <a:spcPct val="100000"/>
              </a:lnSpc>
              <a:spcAft>
                <a:spcPts val="500"/>
              </a:spcAft>
            </a:pPr>
            <a:r>
              <a:rPr sz="1400" dirty="0">
                <a:solidFill>
                  <a:srgbClr val="222222"/>
                </a:solidFill>
              </a:rPr>
              <a:t>•  Rainfed shows an unusually high score, but that's because its water-used figure only counts supplemental irrigation, not rainfall itself — so it isn't a like-for-like comparison with the pumped methods.</a:t>
            </a:r>
          </a:p>
          <a:p>
            <a:pPr algn="l">
              <a:lnSpc>
                <a:spcPct val="100000"/>
              </a:lnSpc>
              <a:spcAft>
                <a:spcPts val="500"/>
              </a:spcAft>
            </a:pPr>
            <a:r>
              <a:rPr sz="1400" dirty="0">
                <a:solidFill>
                  <a:srgbClr val="222222"/>
                </a:solidFill>
              </a:rPr>
              <a:t>•  Among Drip, Flood and Sprinkler, Drip's advantage is largest in Kharif and smallest in Zaid, suggesting its water-saving benefit matters most in the wetter season.</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2" name="Picture 31" descr="check_8.png"/>
          <p:cNvPicPr>
            <a:picLocks noChangeAspect="1"/>
          </p:cNvPicPr>
          <p:nvPr/>
        </p:nvPicPr>
        <p:blipFill>
          <a:blip r:embed="rId3"/>
          <a:stretch>
            <a:fillRect/>
          </a:stretch>
        </p:blipFill>
        <p:spPr>
          <a:xfrm>
            <a:off x="3243532" y="646982"/>
            <a:ext cx="5454979" cy="3485648"/>
          </a:xfrm>
          <a:prstGeom prst="rect">
            <a:avLst/>
          </a:prstGeom>
        </p:spPr>
      </p:pic>
      <p:sp>
        <p:nvSpPr>
          <p:cNvPr id="33" name="TextBox 32"/>
          <p:cNvSpPr txBox="1"/>
          <p:nvPr/>
        </p:nvSpPr>
        <p:spPr>
          <a:xfrm>
            <a:off x="454506" y="4132629"/>
            <a:ext cx="8700000" cy="2900000"/>
          </a:xfrm>
          <a:prstGeom prst="rect">
            <a:avLst/>
          </a:prstGeom>
          <a:noFill/>
        </p:spPr>
        <p:txBody>
          <a:bodyPr wrap="square">
            <a:spAutoFit/>
          </a:bodyPr>
          <a:lstStyle/>
          <a:p>
            <a:pPr algn="l">
              <a:lnSpc>
                <a:spcPct val="100000"/>
              </a:lnSpc>
              <a:spcAft>
                <a:spcPts val="500"/>
              </a:spcAft>
            </a:pPr>
            <a:r>
              <a:rPr sz="1400" dirty="0">
                <a:solidFill>
                  <a:srgbClr val="222222"/>
                </a:solidFill>
              </a:rPr>
              <a:t>•  6 of the 8 states follow the same Kharif &gt; Rabi ordering seen in the national averages.</a:t>
            </a:r>
          </a:p>
          <a:p>
            <a:pPr algn="l">
              <a:lnSpc>
                <a:spcPct val="100000"/>
              </a:lnSpc>
              <a:spcAft>
                <a:spcPts val="500"/>
              </a:spcAft>
            </a:pPr>
            <a:r>
              <a:rPr sz="1400" dirty="0">
                <a:solidFill>
                  <a:srgbClr val="222222"/>
                </a:solidFill>
              </a:rPr>
              <a:t>•  Punjab is the clear exception, where Rabi yield (8.6 t/ha) far exceeds Kharif (4.1 t/ha) — consistent with Punjab's real-world identity as a wheat (Rabi crop) belt.</a:t>
            </a:r>
          </a:p>
          <a:p>
            <a:pPr algn="l">
              <a:lnSpc>
                <a:spcPct val="100000"/>
              </a:lnSpc>
              <a:spcAft>
                <a:spcPts val="500"/>
              </a:spcAft>
            </a:pPr>
            <a:r>
              <a:rPr sz="1400" dirty="0">
                <a:solidFill>
                  <a:srgbClr val="222222"/>
                </a:solidFill>
              </a:rPr>
              <a:t>•  Maharashtra shows the smallest spread between seasons, suggesting more stable year-round conditions there.</a:t>
            </a:r>
          </a:p>
          <a:p>
            <a:pPr algn="l">
              <a:lnSpc>
                <a:spcPct val="100000"/>
              </a:lnSpc>
              <a:spcAft>
                <a:spcPts val="500"/>
              </a:spcAft>
            </a:pPr>
            <a:r>
              <a:rPr sz="1400" dirty="0">
                <a:solidFill>
                  <a:srgbClr val="222222"/>
                </a:solidFill>
              </a:rPr>
              <a:t>•  States like Karnataka and Gujarat show a much sharper Kharif advantage, meaning the seasonal effect isn't uniform in strength even where the ordering holds.</a:t>
            </a:r>
          </a:p>
          <a:p>
            <a:pPr algn="l">
              <a:lnSpc>
                <a:spcPct val="100000"/>
              </a:lnSpc>
              <a:spcAft>
                <a:spcPts val="500"/>
              </a:spcAft>
            </a:pPr>
            <a:r>
              <a:rPr sz="1400" dirty="0">
                <a:solidFill>
                  <a:srgbClr val="222222"/>
                </a:solidFill>
              </a:rPr>
              <a:t>•  Because the overall pattern holds in most states despite regional differences in what's grown, this supports treating the season effect as a genuine national trend rather than a fluke from one or two states.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700000" y="2050000"/>
            <a:ext cx="10600000" cy="4200000"/>
          </a:xfrm>
          <a:prstGeom prst="rect">
            <a:avLst/>
          </a:prstGeom>
          <a:noFill/>
        </p:spPr>
        <p:txBody>
          <a:bodyPr wrap="square">
            <a:spAutoFit/>
          </a:bodyPr>
          <a:lstStyle/>
          <a:p>
            <a:pPr algn="l">
              <a:spcAft>
                <a:spcPts val="1000"/>
              </a:spcAft>
            </a:pPr>
            <a:r>
              <a:rPr sz="1700">
                <a:solidFill>
                  <a:srgbClr val="222222"/>
                </a:solidFill>
              </a:rPr>
              <a:t>•  Build a predictive model (regression / ML) to forecast yield or profit from season, crop and input variables.</a:t>
            </a:r>
          </a:p>
          <a:p>
            <a:pPr algn="l">
              <a:spcAft>
                <a:spcPts val="1000"/>
              </a:spcAft>
            </a:pPr>
            <a:r>
              <a:rPr sz="1700">
                <a:solidFill>
                  <a:srgbClr val="222222"/>
                </a:solidFill>
              </a:rPr>
              <a:t>•  Incorporate real-time weather and satellite data for dynamic, location-specific seasonal recommendations.</a:t>
            </a:r>
          </a:p>
          <a:p>
            <a:pPr algn="l">
              <a:spcAft>
                <a:spcPts val="1000"/>
              </a:spcAft>
            </a:pPr>
            <a:r>
              <a:rPr sz="1700">
                <a:solidFill>
                  <a:srgbClr val="222222"/>
                </a:solidFill>
              </a:rPr>
              <a:t>•  Develop a farmer-facing dashboard flagging high-risk periods with season-specific pesticide and irrigation guidance.</a:t>
            </a:r>
          </a:p>
          <a:p>
            <a:pPr algn="l">
              <a:spcAft>
                <a:spcPts val="1000"/>
              </a:spcAft>
            </a:pPr>
            <a:r>
              <a:rPr sz="1700">
                <a:solidFill>
                  <a:srgbClr val="222222"/>
                </a:solidFill>
              </a:rPr>
              <a:t>•  Expand the dataset to more states and multiple years to test whether the seasonal pattern holds nationally and over time.</a:t>
            </a:r>
          </a:p>
          <a:p>
            <a:pPr algn="l">
              <a:spcAft>
                <a:spcPts val="1000"/>
              </a:spcAft>
            </a:pPr>
            <a:r>
              <a:rPr sz="1700">
                <a:solidFill>
                  <a:srgbClr val="222222"/>
                </a:solidFill>
              </a:rPr>
              <a:t>•  Integrate market-price forecasting with yield predictions for combined agronomic + economic crop-planning advice.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08486" y="2081826"/>
            <a:ext cx="8595899" cy="646331"/>
          </a:xfrm>
          <a:prstGeom prst="rect">
            <a:avLst/>
          </a:prstGeom>
          <a:noFill/>
        </p:spPr>
        <p:txBody>
          <a:bodyPr wrap="square">
            <a:spAutoFit/>
          </a:bodyPr>
          <a:lstStyle/>
          <a:p>
            <a:r>
              <a:rPr lang="en-US" dirty="0">
                <a:hlinkClick r:id="rId3"/>
              </a:rPr>
              <a:t>https://github.com/HarshvardanGD/Seasonal-Agriculture-Performance-Analysis</a:t>
            </a:r>
            <a:endParaRPr lang="en-US" dirty="0"/>
          </a:p>
          <a:p>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0D582023-EF4D-6208-224D-3B6E54A37825}"/>
              </a:ext>
            </a:extLst>
          </p:cNvPr>
          <p:cNvGraphicFramePr>
            <a:graphicFrameLocks noChangeAspect="1"/>
          </p:cNvGraphicFramePr>
          <p:nvPr>
            <p:extLst>
              <p:ext uri="{D42A27DB-BD31-4B8C-83A1-F6EECF244321}">
                <p14:modId xmlns:p14="http://schemas.microsoft.com/office/powerpoint/2010/main" val="1372669901"/>
              </p:ext>
            </p:extLst>
          </p:nvPr>
        </p:nvGraphicFramePr>
        <p:xfrm>
          <a:off x="675957" y="1524255"/>
          <a:ext cx="6894692" cy="4947665"/>
        </p:xfrm>
        <a:graphic>
          <a:graphicData uri="http://schemas.openxmlformats.org/presentationml/2006/ole">
            <mc:AlternateContent xmlns:mc="http://schemas.openxmlformats.org/markup-compatibility/2006">
              <mc:Choice xmlns:v="urn:schemas-microsoft-com:vml" Requires="v">
                <p:oleObj name="Acrobat Document" r:id="rId3" imgW="6415686" imgH="4533492" progId="Acrobat.Document.DC">
                  <p:embed/>
                </p:oleObj>
              </mc:Choice>
              <mc:Fallback>
                <p:oleObj name="Acrobat Document" r:id="rId3" imgW="6415686" imgH="4533492" progId="Acrobat.Document.DC">
                  <p:embed/>
                  <p:pic>
                    <p:nvPicPr>
                      <p:cNvPr id="0" name=""/>
                      <p:cNvPicPr/>
                      <p:nvPr/>
                    </p:nvPicPr>
                    <p:blipFill>
                      <a:blip r:embed="rId4"/>
                      <a:stretch>
                        <a:fillRect/>
                      </a:stretch>
                    </p:blipFill>
                    <p:spPr>
                      <a:xfrm>
                        <a:off x="675957" y="1524255"/>
                        <a:ext cx="6894692" cy="4947665"/>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78883" y="304846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432000" y="6375400"/>
            <a:ext cx="2143125" cy="38608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1284</Words>
  <Application>Microsoft Office PowerPoint</Application>
  <PresentationFormat>Widescreen</PresentationFormat>
  <Paragraphs>69</Paragraphs>
  <Slides>14</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1" baseType="lpstr">
      <vt:lpstr>Arial</vt:lpstr>
      <vt:lpstr>Calibri</vt:lpstr>
      <vt:lpstr>Trebuchet MS</vt:lpstr>
      <vt:lpstr>Wingdings</vt:lpstr>
      <vt:lpstr>Wingdings 3</vt:lpstr>
      <vt:lpstr>Facet</vt:lpstr>
      <vt:lpstr>Acrobat Document</vt:lpstr>
      <vt:lpstr>Project Title – SEASONAL AGRICULTURAL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2026-09-10T12:52:41Z</dcterms:created>
  <dcterms:modified xsi:type="dcterms:W3CDTF">2026-09-10T12:54:01Z</dcterms:modified>
</cp:coreProperties>
</file>